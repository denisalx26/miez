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1675"/>
  <p:notesSz cx="6858000" cy="9144000"/>
  <p:embeddedFontLst>
    <p:embeddedFont>
      <p:font typeface="Int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71a9913e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71a9913e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71a9913e1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71a9913e1_0_14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71a9913e1_0_1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71a9913e1_0_14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71a9913e1_0_3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71a9913e1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71a9913e1_0_14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71a9913e1_0_1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71a9913e1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e71a9913e1_0_14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71a9913e1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71a9913e1_0_15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71a9913e1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e71a9913e1_0_15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71a9913e1_0_1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e71a9913e1_0_15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71a9913e1_0_1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e71a9913e1_0_15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71a9913e1_0_1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e71a9913e1_0_15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71a9913e1_20_0)">
  <p:cSld name="Generated (g3e71a9913e1_20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jpg"/><Relationship Id="rId4" Type="http://schemas.openxmlformats.org/officeDocument/2006/relationships/image" Target="../media/image28.jpg"/><Relationship Id="rId5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1005840" y="214884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1051560" y="3703320"/>
            <a:ext cx="2560320" cy="508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1051560" y="3931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All-in-one business management platform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1051560" y="51206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Django    React    PostgreSQL    AWS EC2</a:t>
            </a:r>
            <a:r>
              <a:rPr b="1" i="0" lang="en-US" sz="14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    Claude 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822960" y="5943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E C H I P A</a:t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822960" y="960120"/>
            <a:ext cx="1051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Meet team Coaja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pic>
        <p:nvPicPr>
          <p:cNvPr id="99" name="Google Shape;99;p15" title="oktoberfest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50" y="1590838"/>
            <a:ext cx="3887045" cy="2915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title="socului_statistica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6225" y="1422925"/>
            <a:ext cx="3162851" cy="421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title="therme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3850" y="3627575"/>
            <a:ext cx="4073800" cy="271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E C H I P A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822960" y="960120"/>
            <a:ext cx="1051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Meet team Coaja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pic>
        <p:nvPicPr>
          <p:cNvPr id="111" name="Google Shape;111;p16" title="gratar_top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6800" y="1663750"/>
            <a:ext cx="3402075" cy="45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title="sala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950" y="1663748"/>
            <a:ext cx="3549425" cy="266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title="craciun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5475" y="3505376"/>
            <a:ext cx="3694472" cy="277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822960" y="5943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C O N T E X T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Problemă &amp; soluție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841248" y="1783080"/>
            <a:ext cx="2194560" cy="381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822960" y="22860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PROBLEMA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822960" y="2697480"/>
            <a:ext cx="49377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IMM-urile românești lucrează cu 5–6 unelte separate: Excel pentru HR, WhatsApp pentru comenzi, foi pentru stoc.</a:t>
            </a:r>
            <a:endParaRPr sz="16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Rezultatul: date fragmentate, timp pierdut,</a:t>
            </a:r>
            <a:endParaRPr sz="16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decizii luate fără o imagine clară a afacerii.</a:t>
            </a:r>
            <a:endParaRPr sz="16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080760" y="2331720"/>
            <a:ext cx="25400" cy="329184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6492240" y="22860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SOLUȚIA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6492251" y="2697475"/>
            <a:ext cx="51417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 singură platformă. Cinci roluri. Date în timp real.</a:t>
            </a:r>
            <a:endParaRPr sz="15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M.I.E.Z conectează HR, Vânzări, IT, Inventar și Operațiuni intr-un singur sistem — cu automatizări și un asistent AI, conștient de rol și de starea live a afacerii.</a:t>
            </a:r>
            <a:endParaRPr sz="15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822960" y="5532120"/>
            <a:ext cx="10515600" cy="254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822960" y="6437376"/>
            <a:ext cx="457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Mediu Integrat de Eficienta Zeiasca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822960" y="6437376"/>
            <a:ext cx="457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Mediu Integrat de Eficienta Zeiasca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9650" y="119875"/>
            <a:ext cx="6139367" cy="307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3163" y="3565349"/>
            <a:ext cx="5252356" cy="236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325" y="1090050"/>
            <a:ext cx="5401401" cy="270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822960" y="5943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A R H I T E C T U R Ă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Stack &amp; infrastructură</a:t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841248" y="1810512"/>
            <a:ext cx="2194560" cy="381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822960" y="2350008"/>
            <a:ext cx="109728" cy="493776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1143000" y="2240280"/>
            <a:ext cx="2926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4206240" y="2240280"/>
            <a:ext cx="71323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React + Vite · TypeScript · dashboard-uri pe rol</a:t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822960" y="3118104"/>
            <a:ext cx="109728" cy="493776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1143000" y="3008376"/>
            <a:ext cx="2926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API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4206240" y="3008376"/>
            <a:ext cx="7132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3737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Django REST Framework </a:t>
            </a:r>
            <a:endParaRPr sz="1500">
              <a:solidFill>
                <a:srgbClr val="73737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3737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822960" y="3886200"/>
            <a:ext cx="109728" cy="493776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1143000" y="3776472"/>
            <a:ext cx="2926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Domain &amp; ORM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4206240" y="3776472"/>
            <a:ext cx="7132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3737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Django </a:t>
            </a:r>
            <a:endParaRPr sz="1500">
              <a:solidFill>
                <a:srgbClr val="73737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3737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822960" y="4654296"/>
            <a:ext cx="109728" cy="493776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1143000" y="4544568"/>
            <a:ext cx="2926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Database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4206240" y="4544568"/>
            <a:ext cx="71323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PostgreSQL (via dj-database-url)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822960" y="5422392"/>
            <a:ext cx="109728" cy="493776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1143000" y="5312664"/>
            <a:ext cx="2926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Infrastructură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4206240" y="5312664"/>
            <a:ext cx="7132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3737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Docker Compose ·</a:t>
            </a:r>
            <a:r>
              <a:rPr lang="en-US" sz="15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Digital Ocean</a:t>
            </a:r>
            <a:r>
              <a:rPr b="0" i="0" lang="en-US" sz="15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(Ubuntu) · GitHub Actions CI/CD</a:t>
            </a:r>
            <a:endParaRPr b="0" i="0" sz="1500" u="none" cap="none" strike="noStrike">
              <a:solidFill>
                <a:srgbClr val="73737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3737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A R H I T E C T U R Ă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675" y="1397800"/>
            <a:ext cx="11603877" cy="271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7953375" y="180975"/>
            <a:ext cx="4200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0">
                <a:solidFill>
                  <a:srgbClr val="F4F3F3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1" sz="28000">
              <a:solidFill>
                <a:srgbClr val="F4F3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819150" y="590550"/>
            <a:ext cx="8229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0 1</a:t>
            </a:r>
            <a:endParaRPr b="1" sz="12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819150" y="952500"/>
            <a:ext cx="8229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HR Management</a:t>
            </a:r>
            <a:endParaRPr b="1" sz="38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838200" y="1809750"/>
            <a:ext cx="2190900" cy="381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819150" y="2190750"/>
            <a:ext cx="6762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A282C"/>
                </a:solidFill>
                <a:latin typeface="Inter"/>
                <a:ea typeface="Inter"/>
                <a:cs typeface="Inter"/>
                <a:sym typeface="Inter"/>
              </a:rPr>
              <a:t>Nu mai pierzi angajați prin Excel-uri. M.I.E.Z îți dă control complet asupra echipei.</a:t>
            </a:r>
            <a:endParaRPr b="0" sz="2000">
              <a:solidFill>
                <a:srgbClr val="2A28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819150" y="3381375"/>
            <a:ext cx="73152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Profiluri complete: rol, contract, salariu, departament — totul într-un singur loc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Pontaj săptămânal vizual și cereri de concediu aprobate cu un click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Salarizare lunară automată: brut, bonusuri, deduceri și net per angajat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Alerte proactive: contracte care expiră, angajați cu absențe repetate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Raport săptămânal generat de AI — insight-uri reale despre workforce, nu doar numere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819150" y="5981700"/>
            <a:ext cx="10515600" cy="123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819150" y="6429375"/>
            <a:ext cx="457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 </a:t>
            </a:r>
            <a:r>
              <a:rPr b="0" lang="en-US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Mediu Integrat de Eficienta Zeiasca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10420350" y="6429375"/>
            <a:ext cx="914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sz="900">
              <a:solidFill>
                <a:srgbClr val="73737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819150" y="590550"/>
            <a:ext cx="8229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0 1</a:t>
            </a:r>
            <a:endParaRPr b="1" sz="12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819150" y="5981700"/>
            <a:ext cx="10515600" cy="123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819150" y="6429375"/>
            <a:ext cx="457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 </a:t>
            </a:r>
            <a:r>
              <a:rPr b="0" lang="en-US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Mediu Integrat de Eficienta Zeiasca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10420350" y="6429375"/>
            <a:ext cx="914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sz="900">
              <a:solidFill>
                <a:srgbClr val="73737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8" name="Google Shape;1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2725" y="3956075"/>
            <a:ext cx="4971476" cy="2037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625" y="914551"/>
            <a:ext cx="5956999" cy="258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3725" y="1257799"/>
            <a:ext cx="5097493" cy="20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6896725" y="182875"/>
            <a:ext cx="52647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0">
                <a:solidFill>
                  <a:srgbClr val="F4F3F3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1" i="0" lang="en-US" sz="28000" u="none" cap="none" strike="noStrike">
                <a:solidFill>
                  <a:srgbClr val="F4F3F3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  0 2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822960" y="9601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Sales &amp; Orders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841248" y="1810512"/>
            <a:ext cx="2194500" cy="381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822960" y="2194560"/>
            <a:ext cx="67665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A282C"/>
                </a:solidFill>
                <a:latin typeface="Inter"/>
                <a:ea typeface="Inter"/>
                <a:cs typeface="Inter"/>
                <a:sym typeface="Inter"/>
              </a:rPr>
              <a:t>Știi exact ce vinzi, cui vinzi și cât ai încasat — în timp real, pe toate canalele.</a:t>
            </a:r>
            <a:endParaRPr b="0" sz="2000">
              <a:solidFill>
                <a:srgbClr val="2A28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822960" y="3240405"/>
            <a:ext cx="7315200" cy="27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Comenzi pe trei canale simultan: eMAG, Website, Direct — toate într-un singur dashboard</a:t>
            </a:r>
            <a:endParaRPr b="1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Clienți segmentați Gold / Silver / Bronze cu istoricul complet al achizițiilor și valoarea totală generată</a:t>
            </a:r>
            <a:endParaRPr b="1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Facturi emise automat la fiecare comandă, cu tracking Paid / Pending / Overdue și alerte pentru restanțe</a:t>
            </a:r>
            <a:endParaRPr b="1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Dashboard CEO live: revenue MTD, YTD, top produse săptămânale și split pe canal de vânzare</a:t>
            </a:r>
            <a:endParaRPr b="1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Catalog de produse cu disponibilitate în timp real — stoc sincronizat direct cu modulul de Inventar</a:t>
            </a:r>
            <a:endParaRPr b="1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822960" y="5989320"/>
            <a:ext cx="10515600" cy="126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  0 2</a:t>
            </a:r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822960" y="5989320"/>
            <a:ext cx="10515600" cy="126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pic>
        <p:nvPicPr>
          <p:cNvPr id="224" name="Google Shape;2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75" y="925500"/>
            <a:ext cx="5611651" cy="286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4375" y="4418675"/>
            <a:ext cx="5960100" cy="17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88900" y="925500"/>
            <a:ext cx="4665575" cy="272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1475" y="4092551"/>
            <a:ext cx="3969592" cy="1896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 txBox="1"/>
          <p:nvPr/>
        </p:nvSpPr>
        <p:spPr>
          <a:xfrm>
            <a:off x="7101951" y="182875"/>
            <a:ext cx="50595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0" u="none" cap="none" strike="noStrike">
                <a:solidFill>
                  <a:srgbClr val="F4F3F3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  0 3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822960" y="9601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Inventory</a:t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841248" y="1810512"/>
            <a:ext cx="2194500" cy="381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822950" y="2107950"/>
            <a:ext cx="7056000" cy="2616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Catalog complet pe SKU cu stoc live, preț unitar și prag minim configurabil per produs</a:t>
            </a:r>
            <a:endParaRPr b="1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Alerte automate când stocul scade sub minim — declanșează workflow către furnizor fără intervenție manuală</a:t>
            </a:r>
            <a:endParaRPr b="1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Jurnal complet de mișcări: intrări de la furnizori, ieșiri pe comenzi, ajustări și write-off-uri cu audit trail</a:t>
            </a:r>
            <a:endParaRPr b="1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Management furnizori integrat: TechSupply, LightHouse, GadgetWorld, FurnitureRO — relațiile vizualizate în graf Sankey</a:t>
            </a:r>
            <a:endParaRPr b="1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Sincronizare directă cu Sales — disponibilitatea produsului se actualizează automat la fiecare comandă</a:t>
            </a:r>
            <a:endParaRPr b="1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822960" y="5989320"/>
            <a:ext cx="10515600" cy="126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25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  0 3</a:t>
            </a:r>
            <a:endParaRPr/>
          </a:p>
        </p:txBody>
      </p:sp>
      <p:sp>
        <p:nvSpPr>
          <p:cNvPr id="247" name="Google Shape;247;p26"/>
          <p:cNvSpPr/>
          <p:nvPr/>
        </p:nvSpPr>
        <p:spPr>
          <a:xfrm>
            <a:off x="822960" y="5989320"/>
            <a:ext cx="10515600" cy="126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pic>
        <p:nvPicPr>
          <p:cNvPr id="250" name="Google Shape;2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25" y="862479"/>
            <a:ext cx="5715248" cy="301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800" y="4031778"/>
            <a:ext cx="6062206" cy="1805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3673" y="931560"/>
            <a:ext cx="5665603" cy="2339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7119051" y="182875"/>
            <a:ext cx="50424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0" u="none" cap="none" strike="noStrike">
                <a:solidFill>
                  <a:srgbClr val="F4F3F3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259" name="Google Shape;259;p27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  0 4</a:t>
            </a:r>
            <a:endParaRPr/>
          </a:p>
        </p:txBody>
      </p:sp>
      <p:sp>
        <p:nvSpPr>
          <p:cNvPr id="260" name="Google Shape;260;p27"/>
          <p:cNvSpPr txBox="1"/>
          <p:nvPr/>
        </p:nvSpPr>
        <p:spPr>
          <a:xfrm>
            <a:off x="822960" y="9601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IT Support</a:t>
            </a:r>
            <a:endParaRPr/>
          </a:p>
        </p:txBody>
      </p:sp>
      <p:sp>
        <p:nvSpPr>
          <p:cNvPr id="261" name="Google Shape;261;p27"/>
          <p:cNvSpPr/>
          <p:nvPr/>
        </p:nvSpPr>
        <p:spPr>
          <a:xfrm>
            <a:off x="841248" y="1810512"/>
            <a:ext cx="2194500" cy="381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838047" y="6282895"/>
            <a:ext cx="10515600" cy="126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822960" y="2194560"/>
            <a:ext cx="82296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A282C"/>
                </a:solidFill>
                <a:latin typeface="Inter"/>
                <a:ea typeface="Inter"/>
                <a:cs typeface="Inter"/>
                <a:sym typeface="Inter"/>
              </a:rPr>
              <a:t>Nicio cerere IT pierdută pe Slack. De la ticket la rezolvat — totul trasat.</a:t>
            </a:r>
            <a:endParaRPr b="0" i="0" sz="2000">
              <a:solidFill>
                <a:srgbClr val="2A28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822950" y="3175075"/>
            <a:ext cx="7746000" cy="27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Tickete create de orice angajat, categorizate pe Hardware / Software / Rețea / Acces și prioritizate Low → Normal → High → Urgent</a:t>
            </a:r>
            <a:endParaRPr b="1" i="0" sz="16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Fiecare tehnician vede doar ticketele lui — My Assigned filtrează automat după userul logat</a:t>
            </a:r>
            <a:endParaRPr b="1" i="0" sz="16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Status panel live: ERP Database, Email Server, VPN Gateway, File Server — uptime și ultimul incident</a:t>
            </a:r>
            <a:endParaRPr b="1" i="0" sz="16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SLA tracking: timp mediu de rezolvare, compliance % și volum săptămânal deschis vs. închis vizualizat grafic</a:t>
            </a:r>
            <a:endParaRPr b="1" i="0" sz="16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Comentarii pe ticket pentru context și colaborare între membrii echipei IT</a:t>
            </a:r>
            <a:endParaRPr b="1" i="0" sz="16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  0 4</a:t>
            </a:r>
            <a:endParaRPr/>
          </a:p>
        </p:txBody>
      </p:sp>
      <p:sp>
        <p:nvSpPr>
          <p:cNvPr id="273" name="Google Shape;273;p28"/>
          <p:cNvSpPr/>
          <p:nvPr/>
        </p:nvSpPr>
        <p:spPr>
          <a:xfrm>
            <a:off x="838047" y="6282895"/>
            <a:ext cx="10515600" cy="126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28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/>
          </a:p>
        </p:txBody>
      </p:sp>
      <p:pic>
        <p:nvPicPr>
          <p:cNvPr id="276" name="Google Shape;2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00" y="1058000"/>
            <a:ext cx="5369900" cy="31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8000" y="1057999"/>
            <a:ext cx="4475602" cy="227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8200" y="3790850"/>
            <a:ext cx="5265388" cy="2646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7444000" y="182875"/>
            <a:ext cx="47175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0" u="none" cap="none" strike="noStrike">
                <a:solidFill>
                  <a:srgbClr val="F4F3F3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285" name="Google Shape;285;p29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  0 5</a:t>
            </a: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822960" y="9601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Workflow Automation</a:t>
            </a: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841248" y="1810512"/>
            <a:ext cx="2194500" cy="381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9"/>
          <p:cNvSpPr txBox="1"/>
          <p:nvPr/>
        </p:nvSpPr>
        <p:spPr>
          <a:xfrm>
            <a:off x="822960" y="2482785"/>
            <a:ext cx="8229600" cy="56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>
                <a:solidFill>
                  <a:srgbClr val="2A282C"/>
                </a:solidFill>
                <a:latin typeface="Inter"/>
                <a:ea typeface="Inter"/>
                <a:cs typeface="Inter"/>
                <a:sym typeface="Inter"/>
              </a:rPr>
              <a:t>Afacerea ta rulează și când tu nu ești la birou. Automatizări configurate în 30 de secunde.</a:t>
            </a:r>
            <a:endParaRPr b="0" i="0" sz="1850">
              <a:solidFill>
                <a:srgbClr val="2A28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9" name="Google Shape;289;p29"/>
          <p:cNvSpPr txBox="1"/>
          <p:nvPr/>
        </p:nvSpPr>
        <p:spPr>
          <a:xfrm>
            <a:off x="841260" y="3413380"/>
            <a:ext cx="8229600" cy="266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 triggere native: stoc sub minim, comandă nouă, contract expirat, ticket nou, prag valoare depășit, raport zilnic programat la oră fixă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9 acțiuni disponibile: email furnizor, notificare manager, generare raport, email CEO, escaladare ticket, postare canal intern, log audit trail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Combinații libere trigger → acțiune — fără cod, fără configurare tehnică, direct din interfață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ON/OFF instant per workflow — pauzezi fără să ștergi, reactivezi fără să reconfigurezi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Fiecare execuție logată complet în WorkflowLog: ce s-a declanșat, ce acțiuni s-au rulat, ce a eșuat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838047" y="6282895"/>
            <a:ext cx="10515600" cy="126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9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29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0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  0 5</a:t>
            </a:r>
            <a:endParaRPr/>
          </a:p>
        </p:txBody>
      </p:sp>
      <p:sp>
        <p:nvSpPr>
          <p:cNvPr id="299" name="Google Shape;299;p30"/>
          <p:cNvSpPr/>
          <p:nvPr/>
        </p:nvSpPr>
        <p:spPr>
          <a:xfrm>
            <a:off x="838047" y="6282895"/>
            <a:ext cx="10515600" cy="126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/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975" y="948825"/>
            <a:ext cx="6509623" cy="34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1"/>
          <p:cNvSpPr txBox="1"/>
          <p:nvPr/>
        </p:nvSpPr>
        <p:spPr>
          <a:xfrm>
            <a:off x="6623100" y="182875"/>
            <a:ext cx="55383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0" u="none" cap="none" strike="noStrike">
                <a:solidFill>
                  <a:srgbClr val="F4F3F3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/>
          </a:p>
        </p:txBody>
      </p:sp>
      <p:sp>
        <p:nvSpPr>
          <p:cNvPr id="309" name="Google Shape;309;p31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  0 6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822960" y="960120"/>
            <a:ext cx="8229600" cy="58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M.I.E.Z Assistant</a:t>
            </a:r>
            <a:endParaRPr b="1" i="0" sz="38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841248" y="1810512"/>
            <a:ext cx="2194500" cy="381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1"/>
          <p:cNvSpPr txBox="1"/>
          <p:nvPr/>
        </p:nvSpPr>
        <p:spPr>
          <a:xfrm>
            <a:off x="822960" y="2194560"/>
            <a:ext cx="80964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A282C"/>
                </a:solidFill>
                <a:latin typeface="Inter"/>
                <a:ea typeface="Inter"/>
                <a:cs typeface="Inter"/>
                <a:sym typeface="Inter"/>
              </a:rPr>
              <a:t>Nu doar răspunde — acționează. Primul asistent ERP conștient de rolul și starea live a afacerii tale.</a:t>
            </a:r>
            <a:endParaRPr b="0" i="0" sz="2000">
              <a:solidFill>
                <a:srgbClr val="2A28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31"/>
          <p:cNvSpPr txBox="1"/>
          <p:nvPr/>
        </p:nvSpPr>
        <p:spPr>
          <a:xfrm>
            <a:off x="822960" y="3240405"/>
            <a:ext cx="10515600" cy="186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Conștient de context: știe cine ești, ce rol ai, pe ce pagină ești și ce date are sistemul în acel moment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Acționează direct din chat: deschide un ticket IT, trimite o cerere de concediu, generează un raport — fără să navighezi nicăieri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Interogează live: "Câte comenzi pending avem azi?" "Cine e în concediu săptămâna asta?" — răspuns instant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Sigur prin design: fiecare tool respectă permisiunile rolului — Sales nu poate accesa payroll, niciodată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Bilingv nativ: răspunde în română sau engleză în funcție de cum îi scrii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822960" y="5989320"/>
            <a:ext cx="10515600" cy="126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2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  0 6</a:t>
            </a: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822960" y="5989320"/>
            <a:ext cx="10515600" cy="126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2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5" name="Google Shape;325;p32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/>
          </a:p>
        </p:txBody>
      </p:sp>
      <p:pic>
        <p:nvPicPr>
          <p:cNvPr id="326" name="Google Shape;32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50" y="948835"/>
            <a:ext cx="3228975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1875" y="779160"/>
            <a:ext cx="299085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6725702" y="182875"/>
            <a:ext cx="54357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0" u="none" cap="none" strike="noStrike">
                <a:solidFill>
                  <a:srgbClr val="F4F3F3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  0 7</a:t>
            </a:r>
            <a:endParaRPr/>
          </a:p>
        </p:txBody>
      </p:sp>
      <p:sp>
        <p:nvSpPr>
          <p:cNvPr id="335" name="Google Shape;335;p33"/>
          <p:cNvSpPr txBox="1"/>
          <p:nvPr/>
        </p:nvSpPr>
        <p:spPr>
          <a:xfrm>
            <a:off x="822960" y="9601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  <a:endParaRPr/>
          </a:p>
        </p:txBody>
      </p:sp>
      <p:sp>
        <p:nvSpPr>
          <p:cNvPr id="336" name="Google Shape;336;p33"/>
          <p:cNvSpPr/>
          <p:nvPr/>
        </p:nvSpPr>
        <p:spPr>
          <a:xfrm>
            <a:off x="841248" y="1810512"/>
            <a:ext cx="2194500" cy="381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3"/>
          <p:cNvSpPr txBox="1"/>
          <p:nvPr/>
        </p:nvSpPr>
        <p:spPr>
          <a:xfrm>
            <a:off x="822960" y="2194560"/>
            <a:ext cx="82296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2A282C"/>
                </a:solidFill>
                <a:latin typeface="Inter"/>
                <a:ea typeface="Inter"/>
                <a:cs typeface="Inter"/>
                <a:sym typeface="Inter"/>
              </a:rPr>
              <a:t>Orice raport, oricând, cu un click. Nu mai aștepți sfârșitul lunii să știi unde ești.</a:t>
            </a:r>
            <a:endParaRPr b="0" i="0" sz="2000">
              <a:solidFill>
                <a:srgbClr val="2A28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33"/>
          <p:cNvSpPr txBox="1"/>
          <p:nvPr/>
        </p:nvSpPr>
        <p:spPr>
          <a:xfrm>
            <a:off x="822960" y="3108960"/>
            <a:ext cx="10515600" cy="186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9 rapoarte native: Monthly Revenue, Quarterly P&amp;L, Inventory Stock, HR Headcount, IT Ticket SLA, Sales Channel Analysis, Employee Attendance, Top Customers, Annual Tax Summary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Filtrate pe categorie: Sales · Finance · Inventory · HR · IT — găsești ce cauți în 2 secunde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Descărcabile instant ca PDF sau CSV, cu metadata: perioadă, dimensiune, data generării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Declanșabile manual de CEO sau automat dintr-un Workflow la oră fixă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i="0" lang="en-US" sz="15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0" i="0" lang="en-US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Trigger direct din M.I.E.Z Assistant: "Generează raportul HR pe luna aceasta" → gata</a:t>
            </a:r>
            <a:endParaRPr b="1" i="0" sz="15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33"/>
          <p:cNvSpPr/>
          <p:nvPr/>
        </p:nvSpPr>
        <p:spPr>
          <a:xfrm>
            <a:off x="822960" y="5989320"/>
            <a:ext cx="10515600" cy="126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3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33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4"/>
          <p:cNvSpPr txBox="1"/>
          <p:nvPr/>
        </p:nvSpPr>
        <p:spPr>
          <a:xfrm>
            <a:off x="822960" y="59436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 O D U L   0 7</a:t>
            </a:r>
            <a:endParaRPr/>
          </a:p>
        </p:txBody>
      </p:sp>
      <p:sp>
        <p:nvSpPr>
          <p:cNvPr id="348" name="Google Shape;348;p34"/>
          <p:cNvSpPr/>
          <p:nvPr/>
        </p:nvSpPr>
        <p:spPr>
          <a:xfrm>
            <a:off x="822960" y="5989320"/>
            <a:ext cx="10515600" cy="126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4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10424160" y="6437376"/>
            <a:ext cx="9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/>
          </a:p>
        </p:txBody>
      </p:sp>
      <p:pic>
        <p:nvPicPr>
          <p:cNvPr id="351" name="Google Shape;35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200" y="1038178"/>
            <a:ext cx="6248101" cy="332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822960" y="5943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R O L U R I</a:t>
            </a:r>
            <a:endParaRPr/>
          </a:p>
        </p:txBody>
      </p:sp>
      <p:sp>
        <p:nvSpPr>
          <p:cNvPr id="358" name="Google Shape;358;p35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Cinci roluri, cinci vederi</a:t>
            </a:r>
            <a:endParaRPr/>
          </a:p>
        </p:txBody>
      </p:sp>
      <p:sp>
        <p:nvSpPr>
          <p:cNvPr id="359" name="Google Shape;359;p35"/>
          <p:cNvSpPr/>
          <p:nvPr/>
        </p:nvSpPr>
        <p:spPr>
          <a:xfrm>
            <a:off x="841248" y="1810512"/>
            <a:ext cx="2194560" cy="381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5"/>
          <p:cNvSpPr txBox="1"/>
          <p:nvPr/>
        </p:nvSpPr>
        <p:spPr>
          <a:xfrm>
            <a:off x="822960" y="2286000"/>
            <a:ext cx="3291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r>
              <a:rPr b="1" i="0" lang="en-US" sz="1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  CEO</a:t>
            </a:r>
            <a:endParaRPr/>
          </a:p>
        </p:txBody>
      </p:sp>
      <p:sp>
        <p:nvSpPr>
          <p:cNvPr id="361" name="Google Shape;361;p35"/>
          <p:cNvSpPr txBox="1"/>
          <p:nvPr/>
        </p:nvSpPr>
        <p:spPr>
          <a:xfrm>
            <a:off x="4480560" y="2286000"/>
            <a:ext cx="6858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KPI cross-departament, sumar HR, overview venituri</a:t>
            </a:r>
            <a:endParaRPr/>
          </a:p>
        </p:txBody>
      </p:sp>
      <p:sp>
        <p:nvSpPr>
          <p:cNvPr id="362" name="Google Shape;362;p35"/>
          <p:cNvSpPr/>
          <p:nvPr/>
        </p:nvSpPr>
        <p:spPr>
          <a:xfrm>
            <a:off x="822960" y="3023108"/>
            <a:ext cx="10515600" cy="127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5"/>
          <p:cNvSpPr txBox="1"/>
          <p:nvPr/>
        </p:nvSpPr>
        <p:spPr>
          <a:xfrm>
            <a:off x="822960" y="3035808"/>
            <a:ext cx="3291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r>
              <a:rPr b="1" i="0" lang="en-US" sz="1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  HR Manager</a:t>
            </a:r>
            <a:endParaRPr/>
          </a:p>
        </p:txBody>
      </p:sp>
      <p:sp>
        <p:nvSpPr>
          <p:cNvPr id="364" name="Google Shape;364;p35"/>
          <p:cNvSpPr txBox="1"/>
          <p:nvPr/>
        </p:nvSpPr>
        <p:spPr>
          <a:xfrm>
            <a:off x="4480560" y="3035808"/>
            <a:ext cx="6858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Workforce, pontaj, concedii, salarizare, contracte</a:t>
            </a:r>
            <a:endParaRPr/>
          </a:p>
        </p:txBody>
      </p:sp>
      <p:sp>
        <p:nvSpPr>
          <p:cNvPr id="365" name="Google Shape;365;p35"/>
          <p:cNvSpPr/>
          <p:nvPr/>
        </p:nvSpPr>
        <p:spPr>
          <a:xfrm>
            <a:off x="822960" y="3772916"/>
            <a:ext cx="10515600" cy="127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5"/>
          <p:cNvSpPr txBox="1"/>
          <p:nvPr/>
        </p:nvSpPr>
        <p:spPr>
          <a:xfrm>
            <a:off x="822960" y="3785616"/>
            <a:ext cx="3291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r>
              <a:rPr b="1" i="0" lang="en-US" sz="1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  Sales Rep</a:t>
            </a:r>
            <a:endParaRPr/>
          </a:p>
        </p:txBody>
      </p:sp>
      <p:sp>
        <p:nvSpPr>
          <p:cNvPr id="367" name="Google Shape;367;p35"/>
          <p:cNvSpPr txBox="1"/>
          <p:nvPr/>
        </p:nvSpPr>
        <p:spPr>
          <a:xfrm>
            <a:off x="4480560" y="3785616"/>
            <a:ext cx="6858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Comenzi, clienți, facturi, performanță vânzări</a:t>
            </a:r>
            <a:endParaRPr/>
          </a:p>
        </p:txBody>
      </p:sp>
      <p:sp>
        <p:nvSpPr>
          <p:cNvPr id="368" name="Google Shape;368;p35"/>
          <p:cNvSpPr/>
          <p:nvPr/>
        </p:nvSpPr>
        <p:spPr>
          <a:xfrm>
            <a:off x="822960" y="4522724"/>
            <a:ext cx="10515600" cy="127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5"/>
          <p:cNvSpPr txBox="1"/>
          <p:nvPr/>
        </p:nvSpPr>
        <p:spPr>
          <a:xfrm>
            <a:off x="822960" y="4535424"/>
            <a:ext cx="3291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r>
              <a:rPr b="1" i="0" lang="en-US" sz="1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  Inventory Manager</a:t>
            </a:r>
            <a:endParaRPr/>
          </a:p>
        </p:txBody>
      </p:sp>
      <p:sp>
        <p:nvSpPr>
          <p:cNvPr id="370" name="Google Shape;370;p35"/>
          <p:cNvSpPr txBox="1"/>
          <p:nvPr/>
        </p:nvSpPr>
        <p:spPr>
          <a:xfrm>
            <a:off x="4480560" y="4535424"/>
            <a:ext cx="6858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Produse, stoc, furnizori, mișcări</a:t>
            </a:r>
            <a:endParaRPr/>
          </a:p>
        </p:txBody>
      </p:sp>
      <p:sp>
        <p:nvSpPr>
          <p:cNvPr id="371" name="Google Shape;371;p35"/>
          <p:cNvSpPr/>
          <p:nvPr/>
        </p:nvSpPr>
        <p:spPr>
          <a:xfrm>
            <a:off x="822960" y="5272532"/>
            <a:ext cx="10515600" cy="127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5"/>
          <p:cNvSpPr txBox="1"/>
          <p:nvPr/>
        </p:nvSpPr>
        <p:spPr>
          <a:xfrm>
            <a:off x="822960" y="5285232"/>
            <a:ext cx="3291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r>
              <a:rPr b="1" i="0" lang="en-US" sz="1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  IT Technician</a:t>
            </a:r>
            <a:endParaRPr/>
          </a:p>
        </p:txBody>
      </p:sp>
      <p:sp>
        <p:nvSpPr>
          <p:cNvPr id="373" name="Google Shape;373;p35"/>
          <p:cNvSpPr txBox="1"/>
          <p:nvPr/>
        </p:nvSpPr>
        <p:spPr>
          <a:xfrm>
            <a:off x="4480560" y="5285232"/>
            <a:ext cx="6858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Tickete de suport, starea sistemului</a:t>
            </a:r>
            <a:endParaRPr/>
          </a:p>
        </p:txBody>
      </p:sp>
      <p:sp>
        <p:nvSpPr>
          <p:cNvPr id="374" name="Google Shape;374;p35"/>
          <p:cNvSpPr/>
          <p:nvPr/>
        </p:nvSpPr>
        <p:spPr>
          <a:xfrm>
            <a:off x="822960" y="6022340"/>
            <a:ext cx="10515600" cy="127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5"/>
          <p:cNvSpPr txBox="1"/>
          <p:nvPr/>
        </p:nvSpPr>
        <p:spPr>
          <a:xfrm>
            <a:off x="822960" y="6437376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r>
              <a:rPr lang="en-US" sz="900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   Mediu Integrat de Eficienta Zeiasca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135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6" name="Google Shape;376;p35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3737B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6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M.I.E.Z</a:t>
            </a:r>
            <a:endParaRPr/>
          </a:p>
        </p:txBody>
      </p:sp>
      <p:sp>
        <p:nvSpPr>
          <p:cNvPr id="383" name="Google Shape;383;p36"/>
          <p:cNvSpPr/>
          <p:nvPr/>
        </p:nvSpPr>
        <p:spPr>
          <a:xfrm>
            <a:off x="4998567" y="3520440"/>
            <a:ext cx="2194560" cy="50800"/>
          </a:xfrm>
          <a:prstGeom prst="rect">
            <a:avLst/>
          </a:prstGeom>
          <a:solidFill>
            <a:srgbClr val="D135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6"/>
          <p:cNvSpPr txBox="1"/>
          <p:nvPr/>
        </p:nvSpPr>
        <p:spPr>
          <a:xfrm>
            <a:off x="0" y="3794760"/>
            <a:ext cx="1219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6"/>
          <p:cNvSpPr txBox="1"/>
          <p:nvPr/>
        </p:nvSpPr>
        <p:spPr>
          <a:xfrm>
            <a:off x="0" y="521208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1353B"/>
                </a:solidFill>
                <a:latin typeface="Inter"/>
                <a:ea typeface="Inter"/>
                <a:cs typeface="Inter"/>
                <a:sym typeface="Inter"/>
              </a:rPr>
              <a:t>Mulțumim!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